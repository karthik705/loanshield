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3.png"/><Relationship Id="rId6" Type="http://schemas.openxmlformats.org/officeDocument/2006/relationships/image" Target="../media/image-4-6.png"/><Relationship Id="rId7" Type="http://schemas.openxmlformats.org/officeDocument/2006/relationships/image" Target="../media/image-4-3.png"/><Relationship Id="rId8" Type="http://schemas.openxmlformats.org/officeDocument/2006/relationships/image" Target="../media/image-4-8.png"/><Relationship Id="rId9" Type="http://schemas.openxmlformats.org/officeDocument/2006/relationships/image" Target="../media/image-4-3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457200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11750040" y="1005840"/>
            <a:ext cx="73152" cy="73152"/>
          </a:xfrm>
          <a:prstGeom prst="ellipse">
            <a:avLst/>
          </a:prstGeom>
          <a:solidFill>
            <a:srgbClr val="1E8A5A"/>
          </a:solidFill>
          <a:ln/>
        </p:spPr>
      </p:sp>
      <p:sp>
        <p:nvSpPr>
          <p:cNvPr id="4" name="Shape 2"/>
          <p:cNvSpPr/>
          <p:nvPr/>
        </p:nvSpPr>
        <p:spPr>
          <a:xfrm>
            <a:off x="11155680" y="1417320"/>
            <a:ext cx="54864" cy="548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6035040"/>
            <a:ext cx="91440" cy="91440"/>
          </a:xfrm>
          <a:prstGeom prst="ellipse">
            <a:avLst/>
          </a:prstGeom>
          <a:solidFill>
            <a:srgbClr val="1E8A5A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6400800"/>
            <a:ext cx="64008" cy="6400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SOCIAL WORK PROJECT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188720"/>
            <a:ext cx="7863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Digital Loan App</a:t>
            </a:r>
            <a:endParaRPr lang="en-US" sz="4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Harassment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777240" y="27889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small loan turns into a nightmare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77240" y="3364992"/>
            <a:ext cx="1280160" cy="0"/>
          </a:xfrm>
          <a:prstGeom prst="line">
            <a:avLst/>
          </a:prstGeom>
          <a:noFill/>
          <a:ln w="50800">
            <a:solidFill>
              <a:srgbClr val="C039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48840" y="3364992"/>
            <a:ext cx="502920" cy="0"/>
          </a:xfrm>
          <a:prstGeom prst="line">
            <a:avLst/>
          </a:prstGeom>
          <a:noFill/>
          <a:ln w="50800">
            <a:solidFill>
              <a:srgbClr val="1E8A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5661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Illegal apps are blackmailing people who just needed quick cash.</a:t>
            </a:r>
            <a:endParaRPr lang="en-US" sz="1450" dirty="0"/>
          </a:p>
        </p:txBody>
      </p:sp>
      <p:pic>
        <p:nvPicPr>
          <p:cNvPr id="13" name="Image 0" descr="/home/claude/loanapp/illustrations/hero_phone_al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40000">
            <a:off x="8366760" y="1417320"/>
            <a:ext cx="3063240" cy="30632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77240" y="44348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Tied to 4 UN Sustainable Development Goals: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 rot="-240000">
            <a:off x="777240" y="480060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5243B"/>
          </a:solidFill>
          <a:ln/>
        </p:spPr>
      </p:sp>
      <p:sp>
        <p:nvSpPr>
          <p:cNvPr id="16" name="Text 13"/>
          <p:cNvSpPr/>
          <p:nvPr/>
        </p:nvSpPr>
        <p:spPr>
          <a:xfrm rot="-240000">
            <a:off x="777240" y="4800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1399032" y="4782312"/>
            <a:ext cx="8595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Poverty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 rot="180000">
            <a:off x="2258568" y="480060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A21942"/>
          </a:solidFill>
          <a:ln/>
        </p:spPr>
      </p:sp>
      <p:sp>
        <p:nvSpPr>
          <p:cNvPr id="19" name="Text 16"/>
          <p:cNvSpPr/>
          <p:nvPr/>
        </p:nvSpPr>
        <p:spPr>
          <a:xfrm rot="180000">
            <a:off x="2258568" y="4800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2880360" y="4782312"/>
            <a:ext cx="8595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 Work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 rot="-180000">
            <a:off x="3739896" y="480060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DD1367"/>
          </a:solidFill>
          <a:ln/>
        </p:spPr>
      </p:sp>
      <p:sp>
        <p:nvSpPr>
          <p:cNvPr id="22" name="Text 19"/>
          <p:cNvSpPr/>
          <p:nvPr/>
        </p:nvSpPr>
        <p:spPr>
          <a:xfrm rot="-180000">
            <a:off x="3739896" y="4800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</a:t>
            </a:r>
            <a:endParaRPr lang="en-US" sz="1900" dirty="0"/>
          </a:p>
        </p:txBody>
      </p:sp>
      <p:sp>
        <p:nvSpPr>
          <p:cNvPr id="23" name="Text 20"/>
          <p:cNvSpPr/>
          <p:nvPr/>
        </p:nvSpPr>
        <p:spPr>
          <a:xfrm>
            <a:off x="4361688" y="4782312"/>
            <a:ext cx="8595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Inequalities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 rot="240000">
            <a:off x="5221224" y="480060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00689D"/>
          </a:solidFill>
          <a:ln/>
        </p:spPr>
      </p:sp>
      <p:sp>
        <p:nvSpPr>
          <p:cNvPr id="25" name="Text 22"/>
          <p:cNvSpPr/>
          <p:nvPr/>
        </p:nvSpPr>
        <p:spPr>
          <a:xfrm rot="240000">
            <a:off x="5221224" y="4800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16</a:t>
            </a:r>
            <a:endParaRPr lang="en-US" sz="1900" dirty="0"/>
          </a:p>
        </p:txBody>
      </p:sp>
      <p:sp>
        <p:nvSpPr>
          <p:cNvPr id="26" name="Text 23"/>
          <p:cNvSpPr/>
          <p:nvPr/>
        </p:nvSpPr>
        <p:spPr>
          <a:xfrm>
            <a:off x="5843016" y="4782312"/>
            <a:ext cx="8595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Peace &amp;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Justice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77724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(the solution comes in part two)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2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Boom — and Its Dark Side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wants fast cash. Not everyone checks who’s lending it.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6583680" cy="4526280"/>
          </a:xfrm>
          <a:prstGeom prst="roundRect">
            <a:avLst>
              <a:gd name="adj" fmla="val 2828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2011680"/>
            <a:ext cx="128016" cy="128016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115568" y="1792224"/>
            <a:ext cx="5760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cash, zero questions
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to approve. No real checks.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68680" y="3337560"/>
            <a:ext cx="128016" cy="128016"/>
          </a:xfrm>
          <a:prstGeom prst="ellipse">
            <a:avLst/>
          </a:prstGeom>
          <a:solidFill>
            <a:srgbClr val="1E8A5A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115568" y="3118104"/>
            <a:ext cx="5760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permissions grab
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Contacts, photos, SMS — all handed over.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68680" y="4663440"/>
            <a:ext cx="128016" cy="128016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115568" y="4443984"/>
            <a:ext cx="5760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Whack-a-mole apps
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Banned today, reborn tomorrow under a new name.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562356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keeps a list of verified lenders — illegal apps just ignore it.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 rot="-120000">
            <a:off x="7360920" y="1627632"/>
            <a:ext cx="4297680" cy="1371600"/>
          </a:xfrm>
          <a:prstGeom prst="roundRect">
            <a:avLst>
              <a:gd name="adj" fmla="val 9333"/>
            </a:avLst>
          </a:prstGeom>
          <a:solidFill>
            <a:srgbClr val="121212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 rot="-120000">
            <a:off x="7589520" y="1746504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A99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87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 rot="-120000">
            <a:off x="7589520" y="245059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blocked by MeitY (Sec. 69A), as of Dec 2025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 rot="120000">
            <a:off x="7360920" y="3118104"/>
            <a:ext cx="4297680" cy="1371600"/>
          </a:xfrm>
          <a:prstGeom prst="roundRect">
            <a:avLst>
              <a:gd name="adj" fmla="val 9333"/>
            </a:avLst>
          </a:prstGeom>
          <a:solidFill>
            <a:srgbClr val="121212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 rot="120000">
            <a:off x="7589520" y="3236976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A99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2,000+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 rot="120000">
            <a:off x="7589520" y="394106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pulled from the Play Store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 rot="-120000">
            <a:off x="7360920" y="4608576"/>
            <a:ext cx="4297680" cy="1371600"/>
          </a:xfrm>
          <a:prstGeom prst="roundRect">
            <a:avLst>
              <a:gd name="adj" fmla="val 9333"/>
            </a:avLst>
          </a:prstGeom>
          <a:solidFill>
            <a:srgbClr val="1E8A5A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 rot="-120000">
            <a:off x="7589520" y="472744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₹19.4 cr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 rot="-120000">
            <a:off x="7589520" y="543153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seized by ED in one Hyderabad case, 2024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Loan App Harassment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21440" y="548640"/>
            <a:ext cx="91440" cy="91440"/>
          </a:xfrm>
          <a:prstGeom prst="ellipse">
            <a:avLst/>
          </a:prstGeom>
          <a:solidFill>
            <a:srgbClr val="1E8A5A"/>
          </a:solidFill>
          <a:ln/>
        </p:spPr>
      </p:sp>
      <p:sp>
        <p:nvSpPr>
          <p:cNvPr id="3" name="Shape 1"/>
          <p:cNvSpPr/>
          <p:nvPr/>
        </p:nvSpPr>
        <p:spPr>
          <a:xfrm>
            <a:off x="11247120" y="1097280"/>
            <a:ext cx="64008" cy="6400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64240" cy="1280160"/>
          </a:xfrm>
          <a:prstGeom prst="roundRect">
            <a:avLst>
              <a:gd name="adj" fmla="val 10000"/>
            </a:avLst>
          </a:prstGeom>
          <a:solidFill>
            <a:srgbClr val="1E1E1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481328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Illegal loan apps prey on desperate borrowers — then blackmail them into paying up.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2971800"/>
            <a:ext cx="3538728" cy="3154680"/>
          </a:xfrm>
          <a:prstGeom prst="roundRect">
            <a:avLst>
              <a:gd name="adj" fmla="val 4058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 rot="-180000">
            <a:off x="804672" y="3273552"/>
            <a:ext cx="658368" cy="658368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9" name="Image 0" descr="/home/claude/loanapp/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180000">
            <a:off x="949513" y="3418393"/>
            <a:ext cx="368686" cy="36868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04672" y="409651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harmed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04672" y="457200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First-time, low-income borrowers.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361688" y="2971800"/>
            <a:ext cx="3538728" cy="3154680"/>
          </a:xfrm>
          <a:prstGeom prst="roundRect">
            <a:avLst>
              <a:gd name="adj" fmla="val 4058"/>
            </a:avLst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 rot="180000">
            <a:off x="4617720" y="3273552"/>
            <a:ext cx="658368" cy="658368"/>
          </a:xfrm>
          <a:prstGeom prst="ellipse">
            <a:avLst/>
          </a:prstGeom>
          <a:solidFill>
            <a:srgbClr val="1E8A5A"/>
          </a:solidFill>
          <a:ln/>
        </p:spPr>
      </p:sp>
      <p:pic>
        <p:nvPicPr>
          <p:cNvPr id="14" name="Image 1" descr="/home/claude/loanapp/icons/warn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0000">
            <a:off x="4762561" y="3418393"/>
            <a:ext cx="368686" cy="36868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17720" y="409651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goes wrong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4617720" y="457200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 spread to your entire contact list.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8174736" y="2971800"/>
            <a:ext cx="3538728" cy="3154680"/>
          </a:xfrm>
          <a:prstGeom prst="roundRect">
            <a:avLst>
              <a:gd name="adj" fmla="val 4058"/>
            </a:avLst>
          </a:prstGeom>
          <a:solidFill>
            <a:srgbClr val="FFFFFF"/>
          </a:solidFill>
          <a:ln/>
        </p:spPr>
      </p:sp>
      <p:sp>
        <p:nvSpPr>
          <p:cNvPr id="18" name="Shape 14"/>
          <p:cNvSpPr/>
          <p:nvPr/>
        </p:nvSpPr>
        <p:spPr>
          <a:xfrm rot="-180000">
            <a:off x="8430768" y="3273552"/>
            <a:ext cx="658368" cy="658368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9" name="Image 2" descr="/home/claude/loanapp/icons/balan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180000">
            <a:off x="8575609" y="3418393"/>
            <a:ext cx="368686" cy="36868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30768" y="409651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persists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430768" y="457200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rebrand faster than the law can catch up.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Loan App Harassment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2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Anatomy of the Trap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missed payment. A well-rehearsed nightmare.</a:t>
            </a:r>
            <a:endParaRPr lang="en-US" sz="1400" dirty="0"/>
          </a:p>
        </p:txBody>
      </p:sp>
      <p:pic>
        <p:nvPicPr>
          <p:cNvPr id="4" name="Image 0" descr="/home/claude/loanapp/illustrations/hero_trap_str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120000">
            <a:off x="8366760" y="292608"/>
            <a:ext cx="3246120" cy="18013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2423160"/>
            <a:ext cx="2048256" cy="3017520"/>
          </a:xfrm>
          <a:prstGeom prst="roundRect">
            <a:avLst>
              <a:gd name="adj" fmla="val 6250"/>
            </a:avLst>
          </a:prstGeom>
          <a:solidFill>
            <a:srgbClr val="F4F6F8"/>
          </a:solidFill>
          <a:ln/>
        </p:spPr>
      </p:sp>
      <p:sp>
        <p:nvSpPr>
          <p:cNvPr id="6" name="Shape 3"/>
          <p:cNvSpPr/>
          <p:nvPr/>
        </p:nvSpPr>
        <p:spPr>
          <a:xfrm rot="-240000">
            <a:off x="1229868" y="2660904"/>
            <a:ext cx="685800" cy="685800"/>
          </a:xfrm>
          <a:prstGeom prst="ellipse">
            <a:avLst/>
          </a:prstGeom>
          <a:solidFill>
            <a:srgbClr val="121212"/>
          </a:solidFill>
          <a:ln/>
        </p:spPr>
      </p:sp>
      <p:pic>
        <p:nvPicPr>
          <p:cNvPr id="7" name="Image 1" descr="/home/claude/loanapp/icons/downlo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240000">
            <a:off x="1380744" y="2811780"/>
            <a:ext cx="384048" cy="3840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8368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67512" y="3474720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&amp; over-permit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667512" y="4114800"/>
            <a:ext cx="1810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Grabs your contacts + photos.</a:t>
            </a:r>
            <a:endParaRPr lang="en-US" sz="1200" dirty="0"/>
          </a:p>
        </p:txBody>
      </p:sp>
      <p:pic>
        <p:nvPicPr>
          <p:cNvPr id="11" name="Image 2" descr="/home/claude/loanapp/icons/arrowR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040" y="3776472"/>
            <a:ext cx="219456" cy="219456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2820924" y="2423160"/>
            <a:ext cx="2048256" cy="3017520"/>
          </a:xfrm>
          <a:prstGeom prst="roundRect">
            <a:avLst>
              <a:gd name="adj" fmla="val 6250"/>
            </a:avLst>
          </a:prstGeom>
          <a:solidFill>
            <a:srgbClr val="F4F6F8"/>
          </a:solidFill>
          <a:ln/>
        </p:spPr>
      </p:sp>
      <p:sp>
        <p:nvSpPr>
          <p:cNvPr id="13" name="Shape 8"/>
          <p:cNvSpPr/>
          <p:nvPr/>
        </p:nvSpPr>
        <p:spPr>
          <a:xfrm rot="240000">
            <a:off x="3502152" y="2660904"/>
            <a:ext cx="685800" cy="685800"/>
          </a:xfrm>
          <a:prstGeom prst="ellipse">
            <a:avLst/>
          </a:prstGeom>
          <a:solidFill>
            <a:srgbClr val="121212"/>
          </a:solidFill>
          <a:ln/>
        </p:spPr>
      </p:sp>
      <p:pic>
        <p:nvPicPr>
          <p:cNvPr id="14" name="Image 3" descr="/home/claude/loanapp/icons/rupe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40000">
            <a:off x="3653028" y="2811780"/>
            <a:ext cx="384048" cy="38404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2930652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2939796" y="3474720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Instant, costly credit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2939796" y="4114800"/>
            <a:ext cx="1810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loan, huge interest.</a:t>
            </a:r>
            <a:endParaRPr lang="en-US" sz="1200" dirty="0"/>
          </a:p>
        </p:txBody>
      </p:sp>
      <p:pic>
        <p:nvPicPr>
          <p:cNvPr id="18" name="Image 4" descr="/home/claude/loanapp/icons/arrowRigh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8324" y="3776472"/>
            <a:ext cx="219456" cy="219456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5093208" y="2423160"/>
            <a:ext cx="2048256" cy="3017520"/>
          </a:xfrm>
          <a:prstGeom prst="roundRect">
            <a:avLst>
              <a:gd name="adj" fmla="val 6250"/>
            </a:avLst>
          </a:prstGeom>
          <a:solidFill>
            <a:srgbClr val="F4F6F8"/>
          </a:solidFill>
          <a:ln/>
        </p:spPr>
      </p:sp>
      <p:sp>
        <p:nvSpPr>
          <p:cNvPr id="20" name="Shape 13"/>
          <p:cNvSpPr/>
          <p:nvPr/>
        </p:nvSpPr>
        <p:spPr>
          <a:xfrm rot="-240000">
            <a:off x="5774436" y="2660904"/>
            <a:ext cx="685800" cy="685800"/>
          </a:xfrm>
          <a:prstGeom prst="ellipse">
            <a:avLst/>
          </a:prstGeom>
          <a:solidFill>
            <a:srgbClr val="1E8A5A"/>
          </a:solidFill>
          <a:ln/>
        </p:spPr>
      </p:sp>
      <p:pic>
        <p:nvPicPr>
          <p:cNvPr id="21" name="Image 5" descr="/home/claude/loanapp/icons/warnin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-240000">
            <a:off x="5925312" y="2811780"/>
            <a:ext cx="384048" cy="38404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202936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15"/>
          <p:cNvSpPr/>
          <p:nvPr/>
        </p:nvSpPr>
        <p:spPr>
          <a:xfrm>
            <a:off x="5212080" y="3474720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falls due</a:t>
            </a:r>
            <a:endParaRPr lang="en-US" sz="1300" dirty="0"/>
          </a:p>
        </p:txBody>
      </p:sp>
      <p:sp>
        <p:nvSpPr>
          <p:cNvPr id="24" name="Text 16"/>
          <p:cNvSpPr/>
          <p:nvPr/>
        </p:nvSpPr>
        <p:spPr>
          <a:xfrm>
            <a:off x="5212080" y="4114800"/>
            <a:ext cx="1810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7–15 days. That’s it.</a:t>
            </a:r>
            <a:endParaRPr lang="en-US" sz="1200" dirty="0"/>
          </a:p>
        </p:txBody>
      </p:sp>
      <p:pic>
        <p:nvPicPr>
          <p:cNvPr id="25" name="Image 6" descr="/home/claude/loanapp/icons/arrowRigh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50608" y="3776472"/>
            <a:ext cx="219456" cy="219456"/>
          </a:xfrm>
          <a:prstGeom prst="rect">
            <a:avLst/>
          </a:prstGeom>
        </p:spPr>
      </p:pic>
      <p:sp>
        <p:nvSpPr>
          <p:cNvPr id="26" name="Shape 17"/>
          <p:cNvSpPr/>
          <p:nvPr/>
        </p:nvSpPr>
        <p:spPr>
          <a:xfrm>
            <a:off x="7365492" y="2423160"/>
            <a:ext cx="2048256" cy="3017520"/>
          </a:xfrm>
          <a:prstGeom prst="roundRect">
            <a:avLst>
              <a:gd name="adj" fmla="val 6250"/>
            </a:avLst>
          </a:prstGeom>
          <a:solidFill>
            <a:srgbClr val="F4F6F8"/>
          </a:solidFill>
          <a:ln/>
        </p:spPr>
      </p:sp>
      <p:sp>
        <p:nvSpPr>
          <p:cNvPr id="27" name="Shape 18"/>
          <p:cNvSpPr/>
          <p:nvPr/>
        </p:nvSpPr>
        <p:spPr>
          <a:xfrm rot="240000">
            <a:off x="8046720" y="2660904"/>
            <a:ext cx="685800" cy="685800"/>
          </a:xfrm>
          <a:prstGeom prst="ellipse">
            <a:avLst/>
          </a:prstGeom>
          <a:solidFill>
            <a:srgbClr val="121212"/>
          </a:solidFill>
          <a:ln/>
        </p:spPr>
      </p:sp>
      <p:pic>
        <p:nvPicPr>
          <p:cNvPr id="28" name="Image 7" descr="/home/claude/loanapp/icons/phon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40000">
            <a:off x="8197596" y="2811780"/>
            <a:ext cx="384048" cy="384048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747522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0"/>
          <p:cNvSpPr/>
          <p:nvPr/>
        </p:nvSpPr>
        <p:spPr>
          <a:xfrm>
            <a:off x="7484364" y="3474720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turns abusive</a:t>
            </a:r>
            <a:endParaRPr lang="en-US" sz="1300" dirty="0"/>
          </a:p>
        </p:txBody>
      </p:sp>
      <p:sp>
        <p:nvSpPr>
          <p:cNvPr id="31" name="Text 21"/>
          <p:cNvSpPr/>
          <p:nvPr/>
        </p:nvSpPr>
        <p:spPr>
          <a:xfrm>
            <a:off x="7484364" y="4114800"/>
            <a:ext cx="1810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Calls. Threats. Repeat.</a:t>
            </a:r>
            <a:endParaRPr lang="en-US" sz="1200" dirty="0"/>
          </a:p>
        </p:txBody>
      </p:sp>
      <p:pic>
        <p:nvPicPr>
          <p:cNvPr id="32" name="Image 8" descr="/home/claude/loanapp/icons/arrowRigh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22892" y="3776472"/>
            <a:ext cx="219456" cy="219456"/>
          </a:xfrm>
          <a:prstGeom prst="rect">
            <a:avLst/>
          </a:prstGeom>
        </p:spPr>
      </p:pic>
      <p:sp>
        <p:nvSpPr>
          <p:cNvPr id="33" name="Shape 22"/>
          <p:cNvSpPr/>
          <p:nvPr/>
        </p:nvSpPr>
        <p:spPr>
          <a:xfrm>
            <a:off x="9637776" y="2423160"/>
            <a:ext cx="2048256" cy="3017520"/>
          </a:xfrm>
          <a:prstGeom prst="roundRect">
            <a:avLst>
              <a:gd name="adj" fmla="val 6250"/>
            </a:avLst>
          </a:prstGeom>
          <a:solidFill>
            <a:srgbClr val="C0392B"/>
          </a:solidFill>
          <a:ln/>
        </p:spPr>
      </p:sp>
      <p:sp>
        <p:nvSpPr>
          <p:cNvPr id="34" name="Shape 23"/>
          <p:cNvSpPr/>
          <p:nvPr/>
        </p:nvSpPr>
        <p:spPr>
          <a:xfrm rot="-240000">
            <a:off x="10319004" y="2660904"/>
            <a:ext cx="685800" cy="685800"/>
          </a:xfrm>
          <a:prstGeom prst="ellipse">
            <a:avLst/>
          </a:prstGeom>
          <a:solidFill>
            <a:srgbClr val="8A241A"/>
          </a:solidFill>
          <a:ln/>
        </p:spPr>
      </p:sp>
      <p:pic>
        <p:nvPicPr>
          <p:cNvPr id="35" name="Image 9" descr="/home/claude/loanapp/icons/image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-240000">
            <a:off x="10469880" y="2811780"/>
            <a:ext cx="384048" cy="384048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9747504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7" name="Text 25"/>
          <p:cNvSpPr/>
          <p:nvPr/>
        </p:nvSpPr>
        <p:spPr>
          <a:xfrm>
            <a:off x="9756648" y="3474720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Blackmail escalates</a:t>
            </a:r>
            <a:endParaRPr lang="en-US" sz="1300" dirty="0"/>
          </a:p>
        </p:txBody>
      </p:sp>
      <p:sp>
        <p:nvSpPr>
          <p:cNvPr id="38" name="Text 26"/>
          <p:cNvSpPr/>
          <p:nvPr/>
        </p:nvSpPr>
        <p:spPr>
          <a:xfrm>
            <a:off x="9756648" y="4114800"/>
            <a:ext cx="1810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BE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“arrest.” Real fear.</a:t>
            </a:r>
            <a:endParaRPr lang="en-US" sz="1200" dirty="0"/>
          </a:p>
        </p:txBody>
      </p:sp>
      <p:sp>
        <p:nvSpPr>
          <p:cNvPr id="39" name="Text 27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Loan App Harassment</a:t>
            </a:r>
            <a:endParaRPr lang="en-US" sz="1000" dirty="0"/>
          </a:p>
        </p:txBody>
      </p:sp>
      <p:sp>
        <p:nvSpPr>
          <p:cNvPr id="40" name="Text 28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12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Tactics of Harassment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“agents” turn your own data into a weapon.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233172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 rot="-180000">
            <a:off x="777240" y="1828800"/>
            <a:ext cx="566928" cy="566928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6" name="Image 0" descr="/home/claude/loanapp/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180000">
            <a:off x="901964" y="1953524"/>
            <a:ext cx="317480" cy="317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783080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Contact-list blackmail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77240" y="256032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contacts get the ugly texts.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97680" y="1600200"/>
            <a:ext cx="3611880" cy="233172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 rot="120000">
            <a:off x="4526280" y="1828800"/>
            <a:ext cx="566928" cy="566928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1" name="Image 1" descr="/home/claude/loanapp/icons/imag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20000">
            <a:off x="4651004" y="1953524"/>
            <a:ext cx="317480" cy="317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57800" y="1783080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Morphed images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26280" y="256032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twisted into threats.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046720" y="1600200"/>
            <a:ext cx="3611880" cy="233172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/>
        </p:spPr>
      </p:sp>
      <p:sp>
        <p:nvSpPr>
          <p:cNvPr id="15" name="Shape 11"/>
          <p:cNvSpPr/>
          <p:nvPr/>
        </p:nvSpPr>
        <p:spPr>
          <a:xfrm rot="-120000">
            <a:off x="8275320" y="1828800"/>
            <a:ext cx="566928" cy="566928"/>
          </a:xfrm>
          <a:prstGeom prst="ellipse">
            <a:avLst/>
          </a:prstGeom>
          <a:solidFill>
            <a:srgbClr val="1E8A5A"/>
          </a:solidFill>
          <a:ln/>
        </p:spPr>
      </p:sp>
      <p:pic>
        <p:nvPicPr>
          <p:cNvPr id="16" name="Image 2" descr="/home/claude/loanapp/icons/gave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120000">
            <a:off x="8400044" y="1953524"/>
            <a:ext cx="317480" cy="317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06840" y="1783080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legal notices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275320" y="256032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“Police” call about your “arrest.”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48640" y="4096512"/>
            <a:ext cx="3611880" cy="233172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/>
        </p:spPr>
      </p:sp>
      <p:sp>
        <p:nvSpPr>
          <p:cNvPr id="20" name="Shape 15"/>
          <p:cNvSpPr/>
          <p:nvPr/>
        </p:nvSpPr>
        <p:spPr>
          <a:xfrm rot="180000">
            <a:off x="777240" y="4325112"/>
            <a:ext cx="566928" cy="566928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21" name="Image 3" descr="/home/claude/loanapp/icons/commentSlas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80000">
            <a:off x="901964" y="4449836"/>
            <a:ext cx="317480" cy="317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4279392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Abusive calls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77240" y="5056632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 hours. Ugly language.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4297680" y="4096512"/>
            <a:ext cx="3611880" cy="233172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/>
        </p:spPr>
      </p:sp>
      <p:sp>
        <p:nvSpPr>
          <p:cNvPr id="25" name="Shape 19"/>
          <p:cNvSpPr/>
          <p:nvPr/>
        </p:nvSpPr>
        <p:spPr>
          <a:xfrm rot="-120000">
            <a:off x="4526280" y="4325112"/>
            <a:ext cx="566928" cy="566928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26" name="Image 4" descr="/home/claude/loanapp/icons/ba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4651004" y="4449836"/>
            <a:ext cx="317480" cy="3174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57800" y="4279392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shaming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26280" y="5056632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face, branded “defaulter.”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8046720" y="4096512"/>
            <a:ext cx="3611880" cy="233172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/>
        </p:spPr>
      </p:sp>
      <p:sp>
        <p:nvSpPr>
          <p:cNvPr id="30" name="Shape 23"/>
          <p:cNvSpPr/>
          <p:nvPr/>
        </p:nvSpPr>
        <p:spPr>
          <a:xfrm rot="120000">
            <a:off x="8275320" y="4325112"/>
            <a:ext cx="566928" cy="566928"/>
          </a:xfrm>
          <a:prstGeom prst="ellipse">
            <a:avLst/>
          </a:prstGeom>
          <a:solidFill>
            <a:srgbClr val="1E8A5A"/>
          </a:solidFill>
          <a:ln/>
        </p:spPr>
      </p:sp>
      <p:pic>
        <p:nvPicPr>
          <p:cNvPr id="31" name="Image 5" descr="/home/claude/loanapp/icons/handHoldingUs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20000">
            <a:off x="8400044" y="4449836"/>
            <a:ext cx="317480" cy="31748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06840" y="4279392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charges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275320" y="5056632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 stack until it’s unpayable.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Loan App Harassment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Human Cost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isn’t about money. It’s about safety.</a:t>
            </a:r>
            <a:endParaRPr lang="en-US" sz="1400" dirty="0"/>
          </a:p>
        </p:txBody>
      </p:sp>
      <p:pic>
        <p:nvPicPr>
          <p:cNvPr id="4" name="Image 0" descr="/home/claude/loanapp/illustrations/hero_network_thre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180000">
            <a:off x="8686800" y="365760"/>
            <a:ext cx="2926080" cy="2926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3657600"/>
            <a:ext cx="3639312" cy="2377440"/>
          </a:xfrm>
          <a:prstGeom prst="roundRect">
            <a:avLst>
              <a:gd name="adj" fmla="val 5385"/>
            </a:avLst>
          </a:prstGeom>
          <a:solidFill>
            <a:srgbClr val="1E1E1E"/>
          </a:solidFill>
          <a:ln/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 rot="-240000">
            <a:off x="2029968" y="3886200"/>
            <a:ext cx="640080" cy="64008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p/>
        </p:txBody>
      </p:sp>
      <p:pic>
        <p:nvPicPr>
          <p:cNvPr id="7" name="Image 1" descr="/home/claude/loanapp/icons/heartbea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240000">
            <a:off x="2170786" y="4027018"/>
            <a:ext cx="358445" cy="35844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7240" y="4617720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crisis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777240" y="5001768"/>
            <a:ext cx="3182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Telangana police alone linked 6–8 suicides to loan-app harassment in two years.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334256" y="3657600"/>
            <a:ext cx="3639312" cy="2377440"/>
          </a:xfrm>
          <a:prstGeom prst="roundRect">
            <a:avLst>
              <a:gd name="adj" fmla="val 5385"/>
            </a:avLst>
          </a:prstGeom>
          <a:solidFill>
            <a:srgbClr val="1E1E1E"/>
          </a:solidFill>
          <a:ln/>
        </p:spPr>
        <p:txBody>
          <a:bodyPr/>
          <a:p/>
        </p:txBody>
      </p:sp>
      <p:sp>
        <p:nvSpPr>
          <p:cNvPr id="11" name="Shape 7"/>
          <p:cNvSpPr/>
          <p:nvPr/>
        </p:nvSpPr>
        <p:spPr>
          <a:xfrm rot="240000">
            <a:off x="5815584" y="3886200"/>
            <a:ext cx="640080" cy="64008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p/>
        </p:txBody>
      </p:sp>
      <p:pic>
        <p:nvPicPr>
          <p:cNvPr id="12" name="Image 2" descr="/home/claude/loanapp/icons/briefc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40000">
            <a:off x="5956402" y="4027018"/>
            <a:ext cx="358445" cy="35844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562856" y="4617720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at risk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4562856" y="5001768"/>
            <a:ext cx="3182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call employers directly — over debts as small as ₹2,000.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8119872" y="3657600"/>
            <a:ext cx="3639312" cy="2377440"/>
          </a:xfrm>
          <a:prstGeom prst="roundRect">
            <a:avLst>
              <a:gd name="adj" fmla="val 5385"/>
            </a:avLst>
          </a:prstGeom>
          <a:solidFill>
            <a:srgbClr val="1E1E1E"/>
          </a:solidFill>
          <a:ln/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 rot="-240000">
            <a:off x="9601200" y="3886200"/>
            <a:ext cx="640080" cy="640080"/>
          </a:xfrm>
          <a:prstGeom prst="ellipse">
            <a:avLst/>
          </a:prstGeom>
          <a:solidFill>
            <a:srgbClr val="1E8A5A"/>
          </a:solidFill>
          <a:ln/>
        </p:spPr>
        <p:txBody>
          <a:bodyPr/>
          <a:p/>
        </p:txBody>
      </p:sp>
      <p:pic>
        <p:nvPicPr>
          <p:cNvPr id="17" name="Image 3" descr="/home/claude/loanapp/icons/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240000">
            <a:off x="9742018" y="4027018"/>
            <a:ext cx="358445" cy="35844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348472" y="4617720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 hurt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8348472" y="5001768"/>
            <a:ext cx="3182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Shame spreads to everyone the borrower loves.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548640" y="619963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MeitY/Google Parliament replies, 2024; state police reports, 2021–24.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Loan App Harassment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2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Why the System Can’t Keep Up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rules exist. The scammers just move faster.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28016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/>
        </p:spPr>
      </p:sp>
      <p:sp>
        <p:nvSpPr>
          <p:cNvPr id="5" name="Shape 3"/>
          <p:cNvSpPr/>
          <p:nvPr/>
        </p:nvSpPr>
        <p:spPr>
          <a:xfrm rot="-180000">
            <a:off x="822960" y="2093976"/>
            <a:ext cx="658368" cy="658368"/>
          </a:xfrm>
          <a:prstGeom prst="ellipse">
            <a:avLst/>
          </a:prstGeom>
          <a:solidFill>
            <a:srgbClr val="121212"/>
          </a:solidFill>
          <a:ln/>
        </p:spPr>
      </p:sp>
      <p:pic>
        <p:nvPicPr>
          <p:cNvPr id="6" name="Image 0" descr="/home/claude/loanapp/icons/glo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180000">
            <a:off x="967801" y="2238817"/>
            <a:ext cx="368686" cy="3686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892808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rebrand fast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166360" y="1892808"/>
            <a:ext cx="6263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name, same scam — in weeks.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3227832"/>
            <a:ext cx="11064240" cy="128016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/>
        </p:spPr>
      </p:sp>
      <p:sp>
        <p:nvSpPr>
          <p:cNvPr id="10" name="Shape 7"/>
          <p:cNvSpPr/>
          <p:nvPr/>
        </p:nvSpPr>
        <p:spPr>
          <a:xfrm rot="180000">
            <a:off x="822960" y="3538728"/>
            <a:ext cx="658368" cy="658368"/>
          </a:xfrm>
          <a:prstGeom prst="ellipse">
            <a:avLst/>
          </a:prstGeom>
          <a:solidFill>
            <a:srgbClr val="1E8A5A"/>
          </a:solidFill>
          <a:ln/>
        </p:spPr>
      </p:sp>
      <p:pic>
        <p:nvPicPr>
          <p:cNvPr id="11" name="Image 1" descr="/home/claude/loanapp/icons/userSecr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0000">
            <a:off x="967801" y="3683569"/>
            <a:ext cx="368686" cy="36868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37360" y="333756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paper trail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5166360" y="3337560"/>
            <a:ext cx="6263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Rented SIMs make agents nearly untraceable.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48640" y="4672584"/>
            <a:ext cx="11064240" cy="128016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/>
        </p:spPr>
      </p:sp>
      <p:sp>
        <p:nvSpPr>
          <p:cNvPr id="15" name="Shape 11"/>
          <p:cNvSpPr/>
          <p:nvPr/>
        </p:nvSpPr>
        <p:spPr>
          <a:xfrm rot="-180000">
            <a:off x="822960" y="4983480"/>
            <a:ext cx="658368" cy="658368"/>
          </a:xfrm>
          <a:prstGeom prst="ellipse">
            <a:avLst/>
          </a:prstGeom>
          <a:solidFill>
            <a:srgbClr val="121212"/>
          </a:solidFill>
          <a:ln/>
        </p:spPr>
      </p:sp>
      <p:pic>
        <p:nvPicPr>
          <p:cNvPr id="16" name="Image 2" descr="/home/claude/loanapp/icon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180000">
            <a:off x="967801" y="5128321"/>
            <a:ext cx="368686" cy="36868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782312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knows help exists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5166360" y="4782312"/>
            <a:ext cx="6263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victims don’t know it’s illegal — or that help (1930) is free.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Loan App Harassment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2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SDG Spotlight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UN goals, all hit by the same scam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88336" cy="41605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 rot="-120000">
            <a:off x="749808" y="1847088"/>
            <a:ext cx="777240" cy="777240"/>
          </a:xfrm>
          <a:prstGeom prst="roundRect">
            <a:avLst>
              <a:gd name="adj" fmla="val 16471"/>
            </a:avLst>
          </a:prstGeom>
          <a:solidFill>
            <a:srgbClr val="E5243B"/>
          </a:solidFill>
          <a:ln/>
        </p:spPr>
      </p:sp>
      <p:sp>
        <p:nvSpPr>
          <p:cNvPr id="6" name="Text 4"/>
          <p:cNvSpPr/>
          <p:nvPr/>
        </p:nvSpPr>
        <p:spPr>
          <a:xfrm rot="-120000">
            <a:off x="749808" y="184708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49808" y="27889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Poverty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49808" y="33832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Traps the poor deeper in debt.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 rot="120000">
            <a:off x="841248" y="4526280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 rot="120000">
            <a:off x="841248" y="452628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74136" y="1645920"/>
            <a:ext cx="2688336" cy="41605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 rot="120000">
            <a:off x="3575304" y="1847088"/>
            <a:ext cx="777240" cy="777240"/>
          </a:xfrm>
          <a:prstGeom prst="roundRect">
            <a:avLst>
              <a:gd name="adj" fmla="val 16471"/>
            </a:avLst>
          </a:prstGeom>
          <a:solidFill>
            <a:srgbClr val="A21942"/>
          </a:solidFill>
          <a:ln/>
        </p:spPr>
      </p:sp>
      <p:sp>
        <p:nvSpPr>
          <p:cNvPr id="13" name="Text 11"/>
          <p:cNvSpPr/>
          <p:nvPr/>
        </p:nvSpPr>
        <p:spPr>
          <a:xfrm rot="120000">
            <a:off x="3575304" y="184708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575304" y="27889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 Work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575304" y="33832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Puts jobs — and trust — at risk.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 rot="-120000">
            <a:off x="3666744" y="4526280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1E8A5A"/>
          </a:solidFill>
          <a:ln/>
        </p:spPr>
      </p:sp>
      <p:sp>
        <p:nvSpPr>
          <p:cNvPr id="17" name="Text 15"/>
          <p:cNvSpPr/>
          <p:nvPr/>
        </p:nvSpPr>
        <p:spPr>
          <a:xfrm rot="-120000">
            <a:off x="3666744" y="452628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99632" y="1645920"/>
            <a:ext cx="2688336" cy="41605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 rot="-120000">
            <a:off x="6400800" y="1847088"/>
            <a:ext cx="777240" cy="777240"/>
          </a:xfrm>
          <a:prstGeom prst="roundRect">
            <a:avLst>
              <a:gd name="adj" fmla="val 16471"/>
            </a:avLst>
          </a:prstGeom>
          <a:solidFill>
            <a:srgbClr val="DD1367"/>
          </a:solidFill>
          <a:ln/>
        </p:spPr>
      </p:sp>
      <p:sp>
        <p:nvSpPr>
          <p:cNvPr id="20" name="Text 18"/>
          <p:cNvSpPr/>
          <p:nvPr/>
        </p:nvSpPr>
        <p:spPr>
          <a:xfrm rot="-120000">
            <a:off x="6400800" y="184708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400800" y="27889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Inequalities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400800" y="33832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Hits those least able to fight back.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 rot="120000">
            <a:off x="6492240" y="4526280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24" name="Text 22"/>
          <p:cNvSpPr/>
          <p:nvPr/>
        </p:nvSpPr>
        <p:spPr>
          <a:xfrm rot="120000">
            <a:off x="6492240" y="452628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025128" y="1645920"/>
            <a:ext cx="2688336" cy="41605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 rot="120000">
            <a:off x="9226296" y="1847088"/>
            <a:ext cx="777240" cy="777240"/>
          </a:xfrm>
          <a:prstGeom prst="roundRect">
            <a:avLst>
              <a:gd name="adj" fmla="val 16471"/>
            </a:avLst>
          </a:prstGeom>
          <a:solidFill>
            <a:srgbClr val="00689D"/>
          </a:solidFill>
          <a:ln/>
        </p:spPr>
      </p:sp>
      <p:sp>
        <p:nvSpPr>
          <p:cNvPr id="27" name="Text 25"/>
          <p:cNvSpPr/>
          <p:nvPr/>
        </p:nvSpPr>
        <p:spPr>
          <a:xfrm rot="120000">
            <a:off x="9226296" y="184708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16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9226296" y="27889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Peace &amp; Justice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9226296" y="33832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Justice moves slower than the scam.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 rot="-120000">
            <a:off x="9317736" y="4526280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1E8A5A"/>
          </a:solidFill>
          <a:ln/>
        </p:spPr>
      </p:sp>
      <p:sp>
        <p:nvSpPr>
          <p:cNvPr id="31" name="Text 29"/>
          <p:cNvSpPr/>
          <p:nvPr/>
        </p:nvSpPr>
        <p:spPr>
          <a:xfrm rot="-120000">
            <a:off x="9317736" y="452628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Loan App Harassment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21440" y="6126480"/>
            <a:ext cx="91440" cy="91440"/>
          </a:xfrm>
          <a:prstGeom prst="ellipse">
            <a:avLst/>
          </a:prstGeom>
          <a:solidFill>
            <a:srgbClr val="1E8A5A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457200"/>
            <a:ext cx="73152" cy="7315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1148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Why It’s Personal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875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scam, four goals undone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 rot="-180000">
            <a:off x="548640" y="1920240"/>
            <a:ext cx="5120640" cy="1600200"/>
          </a:xfrm>
          <a:prstGeom prst="roundRect">
            <a:avLst>
              <a:gd name="adj" fmla="val 8000"/>
            </a:avLst>
          </a:prstGeom>
          <a:solidFill>
            <a:srgbClr val="1E1E1E"/>
          </a:solidFill>
          <a:ln/>
        </p:spPr>
      </p:sp>
      <p:sp>
        <p:nvSpPr>
          <p:cNvPr id="7" name="Shape 5"/>
          <p:cNvSpPr/>
          <p:nvPr/>
        </p:nvSpPr>
        <p:spPr>
          <a:xfrm rot="-180000">
            <a:off x="777240" y="214884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5243B"/>
          </a:solidFill>
          <a:ln/>
        </p:spPr>
      </p:sp>
      <p:sp>
        <p:nvSpPr>
          <p:cNvPr id="8" name="Text 6"/>
          <p:cNvSpPr/>
          <p:nvPr/>
        </p:nvSpPr>
        <p:spPr>
          <a:xfrm rot="-180000">
            <a:off x="77724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 rot="-180000">
            <a:off x="1508760" y="2084832"/>
            <a:ext cx="393192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bad month shouldn’t mean a lifetime of debt.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 rot="120000">
            <a:off x="6263640" y="2331720"/>
            <a:ext cx="5120640" cy="1600200"/>
          </a:xfrm>
          <a:prstGeom prst="roundRect">
            <a:avLst>
              <a:gd name="adj" fmla="val 8000"/>
            </a:avLst>
          </a:prstGeom>
          <a:solidFill>
            <a:srgbClr val="1E1E1E"/>
          </a:solidFill>
          <a:ln/>
        </p:spPr>
      </p:sp>
      <p:sp>
        <p:nvSpPr>
          <p:cNvPr id="11" name="Shape 9"/>
          <p:cNvSpPr/>
          <p:nvPr/>
        </p:nvSpPr>
        <p:spPr>
          <a:xfrm rot="120000">
            <a:off x="6492240" y="256032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A21942"/>
          </a:solidFill>
          <a:ln/>
        </p:spPr>
      </p:sp>
      <p:sp>
        <p:nvSpPr>
          <p:cNvPr id="12" name="Text 10"/>
          <p:cNvSpPr/>
          <p:nvPr/>
        </p:nvSpPr>
        <p:spPr>
          <a:xfrm rot="120000">
            <a:off x="649224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 rot="120000">
            <a:off x="7223760" y="2496312"/>
            <a:ext cx="393192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missed EMI shouldn’t cost you your job.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 rot="120000">
            <a:off x="822960" y="4160520"/>
            <a:ext cx="5120640" cy="1600200"/>
          </a:xfrm>
          <a:prstGeom prst="roundRect">
            <a:avLst>
              <a:gd name="adj" fmla="val 8000"/>
            </a:avLst>
          </a:prstGeom>
          <a:solidFill>
            <a:srgbClr val="1E1E1E"/>
          </a:solidFill>
          <a:ln/>
        </p:spPr>
      </p:sp>
      <p:sp>
        <p:nvSpPr>
          <p:cNvPr id="15" name="Shape 13"/>
          <p:cNvSpPr/>
          <p:nvPr/>
        </p:nvSpPr>
        <p:spPr>
          <a:xfrm rot="120000">
            <a:off x="1051560" y="438912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DD1367"/>
          </a:solidFill>
          <a:ln/>
        </p:spPr>
      </p:sp>
      <p:sp>
        <p:nvSpPr>
          <p:cNvPr id="16" name="Text 14"/>
          <p:cNvSpPr/>
          <p:nvPr/>
        </p:nvSpPr>
        <p:spPr>
          <a:xfrm rot="120000">
            <a:off x="1051560" y="4389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 rot="120000">
            <a:off x="1783080" y="4325112"/>
            <a:ext cx="393192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vulnerable are the easiest targets.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 rot="-180000">
            <a:off x="6583680" y="4480560"/>
            <a:ext cx="5120640" cy="1600200"/>
          </a:xfrm>
          <a:prstGeom prst="roundRect">
            <a:avLst>
              <a:gd name="adj" fmla="val 8000"/>
            </a:avLst>
          </a:prstGeom>
          <a:solidFill>
            <a:srgbClr val="1E1E1E"/>
          </a:solidFill>
          <a:ln/>
        </p:spPr>
      </p:sp>
      <p:sp>
        <p:nvSpPr>
          <p:cNvPr id="19" name="Shape 17"/>
          <p:cNvSpPr/>
          <p:nvPr/>
        </p:nvSpPr>
        <p:spPr>
          <a:xfrm rot="-180000">
            <a:off x="6812280" y="470916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00689D"/>
          </a:solidFill>
          <a:ln/>
        </p:spPr>
      </p:sp>
      <p:sp>
        <p:nvSpPr>
          <p:cNvPr id="20" name="Text 18"/>
          <p:cNvSpPr/>
          <p:nvPr/>
        </p:nvSpPr>
        <p:spPr>
          <a:xfrm rot="-180000">
            <a:off x="6812280" y="4709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16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 rot="-180000">
            <a:off x="7543800" y="4645152"/>
            <a:ext cx="393192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Justice is slow. The scam isn’t.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Loan App Harassment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457200"/>
            <a:ext cx="91440" cy="914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11704320" y="914400"/>
            <a:ext cx="64008" cy="64008"/>
          </a:xfrm>
          <a:prstGeom prst="ellipse">
            <a:avLst/>
          </a:prstGeom>
          <a:solidFill>
            <a:srgbClr val="1E8A5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486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Why This Matters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A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problem hiding in plain sight</a:t>
            </a:r>
            <a:endParaRPr lang="en-US" sz="1600" dirty="0"/>
          </a:p>
        </p:txBody>
      </p:sp>
      <p:pic>
        <p:nvPicPr>
          <p:cNvPr id="6" name="Image 0" descr="/home/claude/loanapp/illustrations/hero_resol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80000">
            <a:off x="9052560" y="502920"/>
            <a:ext cx="2377440" cy="23774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3264408"/>
            <a:ext cx="137160" cy="1371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309067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Bans don’t stick — apps just rebrand.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3922776"/>
            <a:ext cx="137160" cy="1371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7490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Victims are exactly who inclusion should protect.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48640" y="4581144"/>
            <a:ext cx="137160" cy="137160"/>
          </a:xfrm>
          <a:prstGeom prst="ellipse">
            <a:avLst/>
          </a:prstGeom>
          <a:solidFill>
            <a:srgbClr val="1E8A5A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" y="440740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is slow. The harm isn’t.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48640" y="5239512"/>
            <a:ext cx="137160" cy="137160"/>
          </a:xfrm>
          <a:prstGeom prst="ellipse">
            <a:avLst/>
          </a:prstGeom>
          <a:solidFill>
            <a:srgbClr val="1E8A5A"/>
          </a:solidFill>
          <a:ln/>
        </p:spPr>
      </p:sp>
      <p:sp>
        <p:nvSpPr>
          <p:cNvPr id="14" name="Text 11"/>
          <p:cNvSpPr/>
          <p:nvPr/>
        </p:nvSpPr>
        <p:spPr>
          <a:xfrm>
            <a:off x="868680" y="5065776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a fix as fast as the scam.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48640" y="5806440"/>
            <a:ext cx="11064240" cy="731520"/>
          </a:xfrm>
          <a:prstGeom prst="roundRect">
            <a:avLst>
              <a:gd name="adj" fmla="val 17500"/>
            </a:avLst>
          </a:prstGeom>
          <a:solidFill>
            <a:srgbClr val="1E1E1E"/>
          </a:solidFill>
          <a:ln/>
        </p:spPr>
      </p:sp>
      <p:sp>
        <p:nvSpPr>
          <p:cNvPr id="16" name="Text 13"/>
          <p:cNvSpPr/>
          <p:nvPr/>
        </p:nvSpPr>
        <p:spPr>
          <a:xfrm>
            <a:off x="868680" y="589788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next: an AI-based fix — detection, call blocking, evidence storage, auto-complaints.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Loan App Harassment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2026-08-17T07:11:55Z</dcterms:created>
  <dcterms:modified xsi:type="dcterms:W3CDTF">2026-08-17T07:11:55Z</dcterms:modified>
</cp:coreProperties>
</file>