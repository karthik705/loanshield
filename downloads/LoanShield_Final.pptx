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LoanShield is a socio-technical system. The website is one part of it; the rest is community and institutional work.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Four harms, three verified numbers, four SDGs. Telangana police linked 6–8 suicides to loan app harassment in two years.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Objectives 1 and 5 are delivered mostly by people and partners; the website delivers parts of 2, 3 and 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our positioning: we do not compete with Truecaller or bank systems. We sit between victims and these institutions.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left to right. Emphasise that Prevent and Reform are mostly people and policy work, not software.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Prevent is entirely a community programme. Detect is the scam graph, which is live in the website and shared by everyone with the link.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Protect and Respond are where the website does most work, but the counsellors and legal-aid clinics are what make victims actually report.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 clear the website is the digital front door. Reform depends on students and partners publishing and lobbying.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If asked "Truecaller already exists": Truecaller blocks a number on one phone. We link every victim’s report to the operator and protect the people the scammers actually target, the contacts.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with the pilot: one SHG federation, one legal-aid clinic and the district cyber cell, for 90 days.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hyperlink" Target="https://claude.ai/artifact/RvuocA8TjtWS3NRL1imJfX" TargetMode="External"/><Relationship Id="rId2" Type="http://schemas.openxmlformats.org/officeDocument/2006/relationships/image" Target="../media/image-1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image" Target="../media/image-7-2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hyperlink" Target="https://claude.ai/artifact/RvuocA8TjtWS3NRL1imJfX" TargetMode="External"/><Relationship Id="rId1" Type="http://schemas.openxmlformats.org/officeDocument/2006/relationships/image" Target="../media/image-8-1.jp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777240"/>
            <a:ext cx="2377440" cy="219456"/>
          </a:xfrm>
          <a:prstGeom prst="roundRect">
            <a:avLst>
              <a:gd name="adj" fmla="val 50000"/>
            </a:avLst>
          </a:prstGeom>
          <a:solidFill>
            <a:srgbClr val="E5352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SOCIAL WORK &amp; SUSTAINABILITY</a:t>
            </a:r>
            <a:endParaRPr lang="en-US" sz="9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Loan</a:t>
            </a:r>
            <a:pPr indent="0" marL="0">
              <a:buNone/>
            </a:pPr>
            <a:r>
              <a:rPr lang="en-US" sz="4600" b="1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Shield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201168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Fighting illegal loan app harassment by following the money, not the app name.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743200"/>
            <a:ext cx="3840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five-stage system: community programmes, a shared scam graph, a victim toolkit, legal-aid support and a public dashboard.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361188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Live toolkit  </a:t>
            </a:r>
            <a:pPr indent="0" marL="0">
              <a:buNone/>
            </a:pPr>
            <a:r>
              <a:rPr lang="en-US" sz="1000" u="sng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https://claude.ai/artifact/RvuocA8TjtWS3NRL1imJfX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34340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[Team names] · [Course code] · [Institution]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4800600" y="1051560"/>
            <a:ext cx="3794760" cy="2682621"/>
          </a:xfrm>
          <a:prstGeom prst="roundRect">
            <a:avLst>
              <a:gd name="adj" fmla="val 340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800600" y="1051560"/>
            <a:ext cx="379476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4809744" y="1234440"/>
            <a:ext cx="377647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800600" y="1362456"/>
            <a:ext cx="379476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928616" y="11521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102352" y="11521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276088" y="11521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440680" y="1106424"/>
            <a:ext cx="2514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LoanShield</a:t>
            </a:r>
            <a:endParaRPr lang="en-US" sz="1050" dirty="0"/>
          </a:p>
        </p:txBody>
      </p:sp>
      <p:pic>
        <p:nvPicPr>
          <p:cNvPr id="16" name="Image 0" descr="/home/claude/loanshield/deckimg/m_hero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172" y="1371600"/>
            <a:ext cx="3785616" cy="236258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problem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Illegal instant-loan apps trap first-time, low-income borrowers, then blackmail them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blackmail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190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Family and employers get threats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606040" y="12801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2770632" y="1417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Morphed photos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2770632" y="17190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Edited images sent to contacts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63440" y="12801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4828032" y="1417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Fake legal threats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4828032" y="17190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"FIR", "digital arrest"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720840" y="1280160"/>
            <a:ext cx="18745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6885432" y="1417320"/>
            <a:ext cx="154533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Hidden cost</a:t>
            </a:r>
            <a:endParaRPr lang="en-US" sz="1300" dirty="0"/>
          </a:p>
        </p:txBody>
      </p:sp>
      <p:sp>
        <p:nvSpPr>
          <p:cNvPr id="15" name="Text 13"/>
          <p:cNvSpPr txBox="1"/>
          <p:nvPr/>
        </p:nvSpPr>
        <p:spPr>
          <a:xfrm>
            <a:off x="6885432" y="1719072"/>
            <a:ext cx="15453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₹5,000 promised, ₹3,500 paid, 7 days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4864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246888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E5352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87</a:t>
            </a:r>
            <a:endParaRPr lang="en-US" sz="240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289864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illegal apps blocked by MeitY (Dec 2025)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9184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56432" y="246888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2,000+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3456432" y="289864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loan apps removed from Play Store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6035040" y="2377440"/>
            <a:ext cx="25603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99632" y="2468880"/>
            <a:ext cx="223113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67.8%</a:t>
            </a:r>
            <a:endParaRPr lang="en-US" sz="2400" dirty="0"/>
          </a:p>
        </p:txBody>
      </p:sp>
      <p:sp>
        <p:nvSpPr>
          <p:cNvPr id="24" name="Text 22"/>
          <p:cNvSpPr txBox="1"/>
          <p:nvPr/>
        </p:nvSpPr>
        <p:spPr>
          <a:xfrm>
            <a:off x="6199632" y="2898648"/>
            <a:ext cx="22311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of cybercrime complaints are financial fraud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3520440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Sustainable Development Goals affected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548640" y="3822192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E5243B"/>
          </a:solidFill>
          <a:ln w="12700">
            <a:solidFill>
              <a:srgbClr val="E5243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85800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 · No Poverty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68580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Debt spirals over 2,000%/yr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2606040" y="3822192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A21942"/>
          </a:solidFill>
          <a:ln w="12700">
            <a:solidFill>
              <a:srgbClr val="A21942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43200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8 · Decent Work</a:t>
            </a:r>
            <a:endParaRPr lang="en-US" sz="1150" dirty="0"/>
          </a:p>
        </p:txBody>
      </p:sp>
      <p:sp>
        <p:nvSpPr>
          <p:cNvPr id="31" name="Text 29"/>
          <p:cNvSpPr txBox="1"/>
          <p:nvPr/>
        </p:nvSpPr>
        <p:spPr>
          <a:xfrm>
            <a:off x="274320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Threats reach the workplace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663440" y="3822192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DD1367"/>
          </a:solidFill>
          <a:ln w="12700">
            <a:solidFill>
              <a:srgbClr val="DD1367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4800600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10 · Equality</a:t>
            </a:r>
            <a:endParaRPr lang="en-US" sz="1150" dirty="0"/>
          </a:p>
        </p:txBody>
      </p:sp>
      <p:sp>
        <p:nvSpPr>
          <p:cNvPr id="34" name="Text 32"/>
          <p:cNvSpPr txBox="1"/>
          <p:nvPr/>
        </p:nvSpPr>
        <p:spPr>
          <a:xfrm>
            <a:off x="480060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Least literate targeted most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720840" y="3822192"/>
            <a:ext cx="1874520" cy="868680"/>
          </a:xfrm>
          <a:prstGeom prst="roundRect">
            <a:avLst>
              <a:gd name="adj" fmla="val 10526"/>
            </a:avLst>
          </a:prstGeom>
          <a:solidFill>
            <a:srgbClr val="00689D"/>
          </a:solidFill>
          <a:ln w="12700">
            <a:solidFill>
              <a:srgbClr val="00689D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858000" y="3904488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16 · Justice</a:t>
            </a:r>
            <a:endParaRPr lang="en-US" sz="11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0" y="4206240"/>
            <a:ext cx="1600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Victims stay silent</a:t>
            </a:r>
            <a:endParaRPr lang="en-US" sz="1050" dirty="0"/>
          </a:p>
        </p:txBody>
      </p:sp>
      <p:sp>
        <p:nvSpPr>
          <p:cNvPr id="38" name="Text 36"/>
          <p:cNvSpPr txBox="1"/>
          <p:nvPr/>
        </p:nvSpPr>
        <p:spPr>
          <a:xfrm>
            <a:off x="548640" y="4800600"/>
            <a:ext cx="80467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Sources: PIB Dec 2025; Rajya Sabha Q.263, Feb 2024; NCRB via Business Standard.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Objectives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 LoanShield sets out to do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31520" y="146304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315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3152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Prevent borrowing from scam apps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315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Show the real cost of a loan and offer a fair alternative through SHGs and microfinance.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2918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6304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34747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347472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Unmask the operator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4747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rebranded apps through shared UPI IDs, phone numbers and scripts.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5040" y="128016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0" y="146304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217920" y="1463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217920" y="193852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 victims and their contacts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6217920" y="237744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 threats and warn contacts first, without reading private messages.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486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31520" y="324612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315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731520" y="37216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Make evidence and complaints count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7315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Tamper-evident evidence, the law each threat breaks, and bundled complaints.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32918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24612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34747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3474720" y="37216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Hold systems to account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34747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public dashboard of operators and time-to-action for regulators.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035040" y="3063240"/>
            <a:ext cx="2560320" cy="16002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217920" y="3246120"/>
            <a:ext cx="384048" cy="384048"/>
          </a:xfrm>
          <a:prstGeom prst="ellipse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0" y="32461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6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217920" y="3721608"/>
            <a:ext cx="21945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2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Leave no one out</a:t>
            </a:r>
            <a:endParaRPr lang="en-US" sz="1200" dirty="0"/>
          </a:p>
        </p:txBody>
      </p:sp>
      <p:sp>
        <p:nvSpPr>
          <p:cNvPr id="33" name="Text 31"/>
          <p:cNvSpPr txBox="1"/>
          <p:nvPr/>
        </p:nvSpPr>
        <p:spPr>
          <a:xfrm>
            <a:off x="6217920" y="4160520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Indian languages, basic phones (WhatsApp/IVR) and human volunteers.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There are many scam apps. Why another?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existing tool protects one phone or one complaint. None connects victims to the operator.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34440"/>
            <a:ext cx="80467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48640" y="1234440"/>
            <a:ext cx="80467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1417320"/>
            <a:ext cx="80284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545336"/>
            <a:ext cx="80467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33502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50392" y="133502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024128" y="133502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1188720" y="1289304"/>
            <a:ext cx="67665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Comparison</a:t>
            </a:r>
            <a:endParaRPr lang="en-US" sz="105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" y="1691640"/>
          <a:ext cx="7644384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2743200"/>
                <a:gridCol w="2706624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Existing tool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it does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6E6E73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What it misses</a:t>
                      </a:r>
                      <a:endParaRPr lang="en-US" sz="10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C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Truecaller, Google spam filters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Block known spam numbers on one phone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Agents rotate SIMs; contacts still get blackmailed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Bank fraud alerts, MuleHunter.AI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Flag suspicious accounts inside banks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Never see the victim’s threats or evidence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RBI DLA list, MeitY Sec. 69A bans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List legal apps; block named apps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One name at a time; operators rebrand in weeks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1930, cybercrime.gov.in, Chakshu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Take complaints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Each complaint stands alone, with weak evidence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LoanShield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Links victims’ reports by money trail; protects contacts; organises community help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D1D1F"/>
                          </a:solidFill>
                          <a:latin typeface="Helvetica Neue" pitchFamily="34" charset="0"/>
                          <a:ea typeface="Helvetica Neue" pitchFamily="34" charset="-122"/>
                          <a:cs typeface="Helvetica Neue" pitchFamily="34" charset="-120"/>
                        </a:rPr>
                        <a:t>Gives all of the above one operator-level, verified case</a:t>
                      </a:r>
                      <a:endParaRPr lang="en-US" sz="1100" dirty="0">
                        <a:latin typeface="Helvetica Neue" charset="0"/>
                        <a:ea typeface="Helvetica Neue" charset="0"/>
                        <a:cs typeface="Helvetica Neue" charset="0"/>
                      </a:endParaRPr>
                    </a:p>
                  </a:txBody>
                  <a:tcPr marL="91440" marR="91440" marT="73152" marB="73152" anchor="ctr">
                    <a:lnL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5E5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3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The LoanShield pipeline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stages. The website covers parts of three; people and partners carry the rest.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371600"/>
            <a:ext cx="1448410" cy="2651760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57784" y="1380744"/>
            <a:ext cx="1430122" cy="640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94944" y="1572768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  Prevent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694944" y="1920240"/>
            <a:ext cx="891540" cy="219456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</a:t>
            </a:r>
            <a:endParaRPr lang="en-US" sz="900" dirty="0"/>
          </a:p>
        </p:txBody>
      </p:sp>
      <p:sp>
        <p:nvSpPr>
          <p:cNvPr id="8" name="Text 6"/>
          <p:cNvSpPr txBox="1"/>
          <p:nvPr/>
        </p:nvSpPr>
        <p:spPr>
          <a:xfrm>
            <a:off x="694944" y="2286000"/>
            <a:ext cx="11740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Check camps at SHGs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Fair micro-loans via MFIs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/ IVR lender check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2015338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198218" y="1371600"/>
            <a:ext cx="1448410" cy="2651760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207362" y="1380744"/>
            <a:ext cx="1430122" cy="6400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344522" y="1572768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2  Detect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2344522" y="19202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2344522" y="2286000"/>
            <a:ext cx="11740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scam graph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 by UPI, phone, script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only at 3 reporters</a:t>
            </a:r>
            <a:endParaRPr lang="en-US" sz="1050" dirty="0"/>
          </a:p>
        </p:txBody>
      </p:sp>
      <p:sp>
        <p:nvSpPr>
          <p:cNvPr id="15" name="Text 13"/>
          <p:cNvSpPr txBox="1"/>
          <p:nvPr/>
        </p:nvSpPr>
        <p:spPr>
          <a:xfrm>
            <a:off x="2344522" y="36576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website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3664915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17" name="Shape 15"/>
          <p:cNvSpPr/>
          <p:nvPr/>
        </p:nvSpPr>
        <p:spPr>
          <a:xfrm>
            <a:off x="3847795" y="1371600"/>
            <a:ext cx="1448410" cy="2651760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856939" y="1380744"/>
            <a:ext cx="1430122" cy="6400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3994099" y="1572768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3  Protect</a:t>
            </a:r>
            <a:endParaRPr lang="en-US" sz="1500" dirty="0"/>
          </a:p>
        </p:txBody>
      </p:sp>
      <p:sp>
        <p:nvSpPr>
          <p:cNvPr id="20" name="Text 18"/>
          <p:cNvSpPr txBox="1"/>
          <p:nvPr/>
        </p:nvSpPr>
        <p:spPr>
          <a:xfrm>
            <a:off x="3994099" y="1920240"/>
            <a:ext cx="116586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 + people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3994099" y="2286000"/>
            <a:ext cx="11740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 scanner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Shield warning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Counsellor callback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994099" y="36576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website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5314493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24" name="Shape 22"/>
          <p:cNvSpPr/>
          <p:nvPr/>
        </p:nvSpPr>
        <p:spPr>
          <a:xfrm>
            <a:off x="5497373" y="1371600"/>
            <a:ext cx="1448410" cy="2651760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506517" y="1380744"/>
            <a:ext cx="1430122" cy="64008"/>
          </a:xfrm>
          <a:prstGeom prst="rect">
            <a:avLst/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5643677" y="1572768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4  Respond</a:t>
            </a:r>
            <a:endParaRPr lang="en-US" sz="1500" dirty="0"/>
          </a:p>
        </p:txBody>
      </p:sp>
      <p:sp>
        <p:nvSpPr>
          <p:cNvPr id="27" name="Text 25"/>
          <p:cNvSpPr txBox="1"/>
          <p:nvPr/>
        </p:nvSpPr>
        <p:spPr>
          <a:xfrm>
            <a:off x="5643677" y="1920240"/>
            <a:ext cx="891540" cy="219456"/>
          </a:xfrm>
          <a:prstGeom prst="roundRect">
            <a:avLst>
              <a:gd name="adj" fmla="val 50000"/>
            </a:avLst>
          </a:prstGeom>
          <a:solidFill>
            <a:srgbClr val="FFF4E5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C777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5643677" y="2286000"/>
            <a:ext cx="11740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Hash-chained evidence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Legal-aid filing help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Bundled case per operator</a:t>
            </a:r>
            <a:endParaRPr lang="en-US" sz="1050" dirty="0"/>
          </a:p>
        </p:txBody>
      </p:sp>
      <p:sp>
        <p:nvSpPr>
          <p:cNvPr id="29" name="Text 27"/>
          <p:cNvSpPr txBox="1"/>
          <p:nvPr/>
        </p:nvSpPr>
        <p:spPr>
          <a:xfrm>
            <a:off x="5643677" y="3657600"/>
            <a:ext cx="1051560" cy="219456"/>
          </a:xfrm>
          <a:prstGeom prst="roundRect">
            <a:avLst>
              <a:gd name="adj" fmla="val 50000"/>
            </a:avLst>
          </a:prstGeom>
          <a:solidFill>
            <a:srgbClr val="E8E8E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 the website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6964070" y="2514600"/>
            <a:ext cx="182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›</a:t>
            </a:r>
            <a:endParaRPr lang="en-US" sz="2000" dirty="0"/>
          </a:p>
        </p:txBody>
      </p:sp>
      <p:sp>
        <p:nvSpPr>
          <p:cNvPr id="31" name="Shape 29"/>
          <p:cNvSpPr/>
          <p:nvPr/>
        </p:nvSpPr>
        <p:spPr>
          <a:xfrm>
            <a:off x="7146950" y="1371600"/>
            <a:ext cx="1448410" cy="2651760"/>
          </a:xfrm>
          <a:prstGeom prst="roundRect">
            <a:avLst>
              <a:gd name="adj" fmla="val 6313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56094" y="1380744"/>
            <a:ext cx="1430122" cy="64008"/>
          </a:xfrm>
          <a:prstGeom prst="rect">
            <a:avLst/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293254" y="1572768"/>
            <a:ext cx="117409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  Reform</a:t>
            </a:r>
            <a:endParaRPr lang="en-US" sz="1500" dirty="0"/>
          </a:p>
        </p:txBody>
      </p:sp>
      <p:sp>
        <p:nvSpPr>
          <p:cNvPr id="34" name="Text 32"/>
          <p:cNvSpPr txBox="1"/>
          <p:nvPr/>
        </p:nvSpPr>
        <p:spPr>
          <a:xfrm>
            <a:off x="7293254" y="1920240"/>
            <a:ext cx="548640" cy="219456"/>
          </a:xfrm>
          <a:prstGeom prst="roundRect">
            <a:avLst>
              <a:gd name="adj" fmla="val 50000"/>
            </a:avLst>
          </a:prstGeom>
          <a:solidFill>
            <a:srgbClr val="EAF3FF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7293254" y="2286000"/>
            <a:ext cx="117409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dashboard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Quarterly brief to RBI, MeitY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Hotspots guide Prevent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1272845" y="4224528"/>
            <a:ext cx="6598310" cy="0"/>
          </a:xfrm>
          <a:prstGeom prst="line">
            <a:avLst/>
          </a:prstGeom>
          <a:noFill/>
          <a:ln w="12700">
            <a:solidFill>
              <a:srgbClr val="6E6E73"/>
            </a:solidFill>
            <a:prstDash val="dash"/>
            <a:headEnd type="triangle"/>
          </a:ln>
        </p:spPr>
      </p:sp>
      <p:sp>
        <p:nvSpPr>
          <p:cNvPr id="37" name="Text 35"/>
          <p:cNvSpPr txBox="1"/>
          <p:nvPr/>
        </p:nvSpPr>
        <p:spPr>
          <a:xfrm>
            <a:off x="548640" y="4315968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Reform’s hotspots decide where the next Prevent camps run</a:t>
            </a:r>
            <a:endParaRPr lang="en-US" sz="1100" dirty="0"/>
          </a:p>
        </p:txBody>
      </p:sp>
      <p:sp>
        <p:nvSpPr>
          <p:cNvPr id="38" name="Shape 36"/>
          <p:cNvSpPr/>
          <p:nvPr/>
        </p:nvSpPr>
        <p:spPr>
          <a:xfrm>
            <a:off x="3017520" y="46634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FF9500"/>
          </a:solidFill>
          <a:ln w="12700">
            <a:solidFill>
              <a:srgbClr val="FF9500"/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3246120" y="4636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Community-led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4663440"/>
            <a:ext cx="164592" cy="164592"/>
          </a:xfrm>
          <a:prstGeom prst="roundRect">
            <a:avLst>
              <a:gd name="adj" fmla="val 22222"/>
            </a:avLst>
          </a:prstGeom>
          <a:solidFill>
            <a:srgbClr val="007AFF"/>
          </a:solidFill>
          <a:ln w="12700">
            <a:solidFill>
              <a:srgbClr val="007AFF"/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4983480" y="4636008"/>
            <a:ext cx="1188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Tech-led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Stages 1–2: Prevent and Detect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39319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97280"/>
            <a:ext cx="39136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25296"/>
            <a:ext cx="3931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Prevent · community-led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3716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Remove the reason people borrow from scam apps.</a:t>
            </a:r>
            <a:endParaRPr lang="en-US" sz="13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1828800"/>
            <a:ext cx="35295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Truth Check camps at SHG meetings, colleges and ration shops: turn "₹5,000 loan" into its real yearly cost (2,235% in our example)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Fair-credit partners: SHG federations and microfinance institutions give a small, fast, legal loan instead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/ IVR line checks a lender against RBI’s DLA directory, for basic phones</a:t>
            </a:r>
            <a:endParaRPr lang="en-US" sz="11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 volunteers translate and run sessions in Tamil and Hindi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749808" y="4343400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52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1.4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1527048" y="4343400"/>
            <a:ext cx="685800" cy="219456"/>
          </a:xfrm>
          <a:prstGeom prst="roundRect">
            <a:avLst>
              <a:gd name="adj" fmla="val 50000"/>
            </a:avLst>
          </a:prstGeom>
          <a:solidFill>
            <a:srgbClr val="E5243B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1.5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2304288" y="434340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A21942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8.10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6344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663440" y="914400"/>
            <a:ext cx="39319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72584" y="1097280"/>
            <a:ext cx="39136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663440" y="1225296"/>
            <a:ext cx="3931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914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9651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0352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Detect · tech-led</a:t>
            </a:r>
            <a:endParaRPr lang="en-US" sz="1050" dirty="0"/>
          </a:p>
        </p:txBody>
      </p:sp>
      <p:sp>
        <p:nvSpPr>
          <p:cNvPr id="24" name="Text 22"/>
          <p:cNvSpPr txBox="1"/>
          <p:nvPr/>
        </p:nvSpPr>
        <p:spPr>
          <a:xfrm>
            <a:off x="4864608" y="1371600"/>
            <a:ext cx="35295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Find the operator, not just the app name.</a:t>
            </a:r>
            <a:endParaRPr lang="en-US" sz="1300" dirty="0"/>
          </a:p>
        </p:txBody>
      </p:sp>
      <p:pic>
        <p:nvPicPr>
          <p:cNvPr id="25" name="Image 0" descr="/home/claude/loanshield/deckimg/m_graph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230368" y="1737360"/>
            <a:ext cx="2798064" cy="1748790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4864608" y="3577590"/>
            <a:ext cx="3529584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Reports that share a UPI ID, number or ≥50% of a script join one operator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Published only after 3 different people report it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Operators go to MeitY, Google Play and telecoms as one case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Stages 3–4: Protect and Respond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39319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97280"/>
            <a:ext cx="39136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25296"/>
            <a:ext cx="3931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Protect · tech + people</a:t>
            </a:r>
            <a:endParaRPr lang="en-US" sz="1050" dirty="0"/>
          </a:p>
        </p:txBody>
      </p:sp>
      <p:pic>
        <p:nvPicPr>
          <p:cNvPr id="11" name="Image 0" descr="/home/claude/loanshield/deckimg/m_shiel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9808" y="1371600"/>
            <a:ext cx="3529584" cy="2205990"/>
          </a:xfrm>
          <a:prstGeom prst="rect">
            <a:avLst/>
          </a:prstGeom>
        </p:spPr>
      </p:pic>
      <p:sp>
        <p:nvSpPr>
          <p:cNvPr id="12" name="Text 9"/>
          <p:cNvSpPr txBox="1"/>
          <p:nvPr/>
        </p:nvSpPr>
        <p:spPr>
          <a:xfrm>
            <a:off x="749808" y="3687318"/>
            <a:ext cx="3529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 scanner names the threat and pulls out UPI IDs and numbers, from shared text only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Shield: warn contacts first, in English, Hindi or Tamil, so blackmail loses its power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Severe threats show 1930 and Tele-MANAS 14416; NGO counsellors call back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4663440" y="914400"/>
            <a:ext cx="3931920" cy="3840480"/>
          </a:xfrm>
          <a:prstGeom prst="roundRect">
            <a:avLst>
              <a:gd name="adj" fmla="val 238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1"/>
          <p:cNvSpPr/>
          <p:nvPr/>
        </p:nvSpPr>
        <p:spPr>
          <a:xfrm>
            <a:off x="4663440" y="914400"/>
            <a:ext cx="39319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72584" y="1097280"/>
            <a:ext cx="39136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4663440" y="1225296"/>
            <a:ext cx="39319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Shape 14"/>
          <p:cNvSpPr/>
          <p:nvPr/>
        </p:nvSpPr>
        <p:spPr>
          <a:xfrm>
            <a:off x="47914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9651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1389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5303520" y="969264"/>
            <a:ext cx="26517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Respond · community-led</a:t>
            </a:r>
            <a:endParaRPr lang="en-US" sz="1050" dirty="0"/>
          </a:p>
        </p:txBody>
      </p:sp>
      <p:pic>
        <p:nvPicPr>
          <p:cNvPr id="21" name="Image 1" descr="/home/claude/loanshield/deckimg/m_vault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4608" y="1371600"/>
            <a:ext cx="3529584" cy="220599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4864608" y="3687318"/>
            <a:ext cx="352958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vault: SHA-256 hash chain proves nothing was edited (for a Sec. 63 BSA certificate)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Rights map: names the RBI rule, BNS or IT Act section each threat may break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Law-college legal-aid clinics help file; one bundled case per operator goes to the cyber cell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Stage 5: Reform, and where the website fits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514600" cy="3840480"/>
          </a:xfrm>
          <a:prstGeom prst="roundRect">
            <a:avLst>
              <a:gd name="adj" fmla="val 3636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251460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97280"/>
            <a:ext cx="249631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25296"/>
            <a:ext cx="251460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969264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Reform · tech-led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371600"/>
            <a:ext cx="2112264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Public dashboard: operators, app names per operator, days from first report to action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Students publish a quarterly brief to RBI, MeitY and Google Play</a:t>
            </a:r>
            <a:endParaRPr lang="en-US" sz="105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Regional hotspots feed back into Prevent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" y="42062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00689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16.4</a:t>
            </a:r>
            <a:endParaRPr lang="en-US" sz="900" dirty="0"/>
          </a:p>
        </p:txBody>
      </p:sp>
      <p:sp>
        <p:nvSpPr>
          <p:cNvPr id="13" name="Text 11"/>
          <p:cNvSpPr txBox="1"/>
          <p:nvPr/>
        </p:nvSpPr>
        <p:spPr>
          <a:xfrm>
            <a:off x="1572768" y="4206240"/>
            <a:ext cx="731520" cy="219456"/>
          </a:xfrm>
          <a:prstGeom prst="roundRect">
            <a:avLst>
              <a:gd name="adj" fmla="val 50000"/>
            </a:avLst>
          </a:prstGeom>
          <a:solidFill>
            <a:srgbClr val="00689D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SDG 16.6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46120" y="914400"/>
            <a:ext cx="3017520" cy="2196846"/>
          </a:xfrm>
          <a:prstGeom prst="roundRect">
            <a:avLst>
              <a:gd name="adj" fmla="val 4162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246120" y="914400"/>
            <a:ext cx="30175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55264" y="1097280"/>
            <a:ext cx="29992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46120" y="1225296"/>
            <a:ext cx="30175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37413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54787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72160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886200" y="969264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Website (one part)</a:t>
            </a:r>
            <a:endParaRPr lang="en-US" sz="1050" dirty="0"/>
          </a:p>
        </p:txBody>
      </p:sp>
      <p:pic>
        <p:nvPicPr>
          <p:cNvPr id="22" name="Image 0" descr="/home/claude/loanshield/deckimg/m_scan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50692" y="1234440"/>
            <a:ext cx="3008376" cy="1876806"/>
          </a:xfrm>
          <a:prstGeom prst="rect">
            <a:avLst/>
          </a:prstGeom>
        </p:spPr>
      </p:pic>
      <p:sp>
        <p:nvSpPr>
          <p:cNvPr id="23" name="Text 20"/>
          <p:cNvSpPr txBox="1"/>
          <p:nvPr/>
        </p:nvSpPr>
        <p:spPr>
          <a:xfrm>
            <a:off x="3246120" y="315468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Five working tools: loan check, threat scanner, Contact Shield, evidence vault, complaint packet, plus the live scam graph.</a:t>
            </a:r>
            <a:endParaRPr lang="en-US" sz="1050" dirty="0"/>
          </a:p>
        </p:txBody>
      </p:sp>
      <p:sp>
        <p:nvSpPr>
          <p:cNvPr id="24" name="Text 21"/>
          <p:cNvSpPr txBox="1"/>
          <p:nvPr/>
        </p:nvSpPr>
        <p:spPr>
          <a:xfrm>
            <a:off x="3246120" y="379476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Open: </a:t>
            </a:r>
            <a:pPr indent="0" marL="0">
              <a:buNone/>
            </a:pPr>
            <a:r>
              <a:rPr lang="en-US" sz="950" u="sng" dirty="0">
                <a:solidFill>
                  <a:srgbClr val="007A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2" invalidUrl="" action="" tgtFrame="" tooltip="" history="1" highlightClick="0" endSnd="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claude.ai/artifact/RvuocA8TjtWS3NRL1imJfX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6446520" y="914400"/>
            <a:ext cx="2148840" cy="384048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446520" y="914400"/>
            <a:ext cx="214884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6455664" y="1097280"/>
            <a:ext cx="213055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6446520" y="1225296"/>
            <a:ext cx="214884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9" name="Shape 26"/>
          <p:cNvSpPr/>
          <p:nvPr/>
        </p:nvSpPr>
        <p:spPr>
          <a:xfrm>
            <a:off x="657453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30" name="Shape 27"/>
          <p:cNvSpPr/>
          <p:nvPr/>
        </p:nvSpPr>
        <p:spPr>
          <a:xfrm>
            <a:off x="674827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692200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7086600" y="969264"/>
            <a:ext cx="868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Tech stack</a:t>
            </a:r>
            <a:endParaRPr lang="en-US" sz="1050" dirty="0"/>
          </a:p>
        </p:txBody>
      </p:sp>
      <p:sp>
        <p:nvSpPr>
          <p:cNvPr id="33" name="Text 30"/>
          <p:cNvSpPr txBox="1"/>
          <p:nvPr/>
        </p:nvSpPr>
        <p:spPr>
          <a:xfrm>
            <a:off x="6647688" y="13716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Web app</a:t>
            </a:r>
            <a:endParaRPr lang="en-US" sz="1050" dirty="0"/>
          </a:p>
        </p:txBody>
      </p:sp>
      <p:sp>
        <p:nvSpPr>
          <p:cNvPr id="34" name="Text 31"/>
          <p:cNvSpPr txBox="1"/>
          <p:nvPr/>
        </p:nvSpPr>
        <p:spPr>
          <a:xfrm>
            <a:off x="6647688" y="15727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HTML, CSS, JS</a:t>
            </a:r>
            <a:endParaRPr lang="en-US" sz="950" dirty="0"/>
          </a:p>
        </p:txBody>
      </p:sp>
      <p:sp>
        <p:nvSpPr>
          <p:cNvPr id="35" name="Text 32"/>
          <p:cNvSpPr txBox="1"/>
          <p:nvPr/>
        </p:nvSpPr>
        <p:spPr>
          <a:xfrm>
            <a:off x="6647688" y="187452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</a:t>
            </a:r>
            <a:endParaRPr lang="en-US" sz="1050" dirty="0"/>
          </a:p>
        </p:txBody>
      </p:sp>
      <p:sp>
        <p:nvSpPr>
          <p:cNvPr id="36" name="Text 33"/>
          <p:cNvSpPr txBox="1"/>
          <p:nvPr/>
        </p:nvSpPr>
        <p:spPr>
          <a:xfrm>
            <a:off x="6647688" y="207568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Union-find + Jaccard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6647688" y="237744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</a:t>
            </a:r>
            <a:endParaRPr lang="en-US" sz="1050" dirty="0"/>
          </a:p>
        </p:txBody>
      </p:sp>
      <p:sp>
        <p:nvSpPr>
          <p:cNvPr id="38" name="Text 35"/>
          <p:cNvSpPr txBox="1"/>
          <p:nvPr/>
        </p:nvSpPr>
        <p:spPr>
          <a:xfrm>
            <a:off x="6647688" y="257860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SHA-256 Web Crypto</a:t>
            </a:r>
            <a:endParaRPr lang="en-US" sz="950" dirty="0"/>
          </a:p>
        </p:txBody>
      </p:sp>
      <p:sp>
        <p:nvSpPr>
          <p:cNvPr id="39" name="Text 36"/>
          <p:cNvSpPr txBox="1"/>
          <p:nvPr/>
        </p:nvSpPr>
        <p:spPr>
          <a:xfrm>
            <a:off x="6647688" y="288036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Shared data</a:t>
            </a:r>
            <a:endParaRPr lang="en-US" sz="1050" dirty="0"/>
          </a:p>
        </p:txBody>
      </p:sp>
      <p:sp>
        <p:nvSpPr>
          <p:cNvPr id="40" name="Text 37"/>
          <p:cNvSpPr txBox="1"/>
          <p:nvPr/>
        </p:nvSpPr>
        <p:spPr>
          <a:xfrm>
            <a:off x="6647688" y="308152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Artifact database</a:t>
            </a:r>
            <a:endParaRPr lang="en-US" sz="950" dirty="0"/>
          </a:p>
        </p:txBody>
      </p:sp>
      <p:sp>
        <p:nvSpPr>
          <p:cNvPr id="41" name="Text 38"/>
          <p:cNvSpPr txBox="1"/>
          <p:nvPr/>
        </p:nvSpPr>
        <p:spPr>
          <a:xfrm>
            <a:off x="6647688" y="338328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 (next)</a:t>
            </a:r>
            <a:endParaRPr lang="en-US" sz="1050" dirty="0"/>
          </a:p>
        </p:txBody>
      </p:sp>
      <p:sp>
        <p:nvSpPr>
          <p:cNvPr id="42" name="Text 39"/>
          <p:cNvSpPr txBox="1"/>
          <p:nvPr/>
        </p:nvSpPr>
        <p:spPr>
          <a:xfrm>
            <a:off x="6647688" y="358444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Kotlin, TF Lite, ML Kit</a:t>
            </a:r>
            <a:endParaRPr lang="en-US" sz="950" dirty="0"/>
          </a:p>
        </p:txBody>
      </p:sp>
      <p:sp>
        <p:nvSpPr>
          <p:cNvPr id="43" name="Text 40"/>
          <p:cNvSpPr txBox="1"/>
          <p:nvPr/>
        </p:nvSpPr>
        <p:spPr>
          <a:xfrm>
            <a:off x="6647688" y="3886200"/>
            <a:ext cx="174650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Basic phones</a:t>
            </a:r>
            <a:endParaRPr lang="en-US" sz="1050" dirty="0"/>
          </a:p>
        </p:txBody>
      </p:sp>
      <p:sp>
        <p:nvSpPr>
          <p:cNvPr id="44" name="Text 41"/>
          <p:cNvSpPr txBox="1"/>
          <p:nvPr/>
        </p:nvSpPr>
        <p:spPr>
          <a:xfrm>
            <a:off x="6647688" y="4087368"/>
            <a:ext cx="1746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/ IVR bot</a:t>
            </a:r>
            <a:endParaRPr lang="en-US" sz="9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How we stand out</a:t>
            </a:r>
            <a:endParaRPr lang="en-US" sz="26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786384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Our novelty, and the evidence it works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 txBox="1"/>
          <p:nvPr/>
        </p:nvSpPr>
        <p:spPr>
          <a:xfrm>
            <a:off x="713232" y="1417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Follows the money trail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713232" y="171907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Links ten app names to one operator by UPI ID, number and script.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246120" y="128016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3410712" y="141732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Three-person rule</a:t>
            </a:r>
            <a:endParaRPr lang="en-US" sz="1250" dirty="0"/>
          </a:p>
        </p:txBody>
      </p:sp>
      <p:sp>
        <p:nvSpPr>
          <p:cNvPr id="9" name="Text 7"/>
          <p:cNvSpPr txBox="1"/>
          <p:nvPr/>
        </p:nvSpPr>
        <p:spPr>
          <a:xfrm>
            <a:off x="3410712" y="171907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Nothing goes public until 3 people report it, so no one can frame a rival.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48640" y="246888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 txBox="1"/>
          <p:nvPr/>
        </p:nvSpPr>
        <p:spPr>
          <a:xfrm>
            <a:off x="713232" y="260604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Disarms the contact list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713232" y="290779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 Shield warns family first. No spam app does this.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3246120" y="246888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 txBox="1"/>
          <p:nvPr/>
        </p:nvSpPr>
        <p:spPr>
          <a:xfrm>
            <a:off x="3410712" y="260604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Names the law broken</a:t>
            </a:r>
            <a:endParaRPr lang="en-US" sz="1250" dirty="0"/>
          </a:p>
        </p:txBody>
      </p:sp>
      <p:sp>
        <p:nvSpPr>
          <p:cNvPr id="15" name="Text 13"/>
          <p:cNvSpPr txBox="1"/>
          <p:nvPr/>
        </p:nvSpPr>
        <p:spPr>
          <a:xfrm>
            <a:off x="3410712" y="290779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threat mapped to RBI, BNS or IT Act; late-night calls flagged.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548640" y="365760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 txBox="1"/>
          <p:nvPr/>
        </p:nvSpPr>
        <p:spPr>
          <a:xfrm>
            <a:off x="713232" y="37947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Court-ready evidence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13232" y="409651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 hash chain shows nothing was edited after saving.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46120" y="3657600"/>
            <a:ext cx="2514600" cy="1024128"/>
          </a:xfrm>
          <a:prstGeom prst="roundRect">
            <a:avLst>
              <a:gd name="adj" fmla="val 892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3410712" y="3794760"/>
            <a:ext cx="21854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Community, not just code</a:t>
            </a:r>
            <a:endParaRPr lang="en-US" sz="1250" dirty="0"/>
          </a:p>
        </p:txBody>
      </p:sp>
      <p:sp>
        <p:nvSpPr>
          <p:cNvPr id="21" name="Text 19"/>
          <p:cNvSpPr txBox="1"/>
          <p:nvPr/>
        </p:nvSpPr>
        <p:spPr>
          <a:xfrm>
            <a:off x="3410712" y="4096512"/>
            <a:ext cx="21854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SHG credit, legal aid and a public dashboard close the loop.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989320" y="1280160"/>
            <a:ext cx="2606040" cy="3401568"/>
          </a:xfrm>
          <a:prstGeom prst="roundRect">
            <a:avLst>
              <a:gd name="adj" fmla="val 3509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89320" y="1280160"/>
            <a:ext cx="260604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998464" y="1463040"/>
            <a:ext cx="258775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989320" y="1591056"/>
            <a:ext cx="260604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17336" y="138074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1072" y="138074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464808" y="138074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6629400" y="1335024"/>
            <a:ext cx="1325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Scanner test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6190488" y="1737360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F9D55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100%</a:t>
            </a:r>
            <a:endParaRPr lang="en-US" sz="2400" dirty="0"/>
          </a:p>
        </p:txBody>
      </p:sp>
      <p:sp>
        <p:nvSpPr>
          <p:cNvPr id="31" name="Text 29"/>
          <p:cNvSpPr txBox="1"/>
          <p:nvPr/>
        </p:nvSpPr>
        <p:spPr>
          <a:xfrm>
            <a:off x="6190488" y="2130552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threats caught (recall)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6190488" y="2450592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C77700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86%</a:t>
            </a:r>
            <a:endParaRPr lang="en-US" sz="2400" dirty="0"/>
          </a:p>
        </p:txBody>
      </p:sp>
      <p:sp>
        <p:nvSpPr>
          <p:cNvPr id="33" name="Text 31"/>
          <p:cNvSpPr txBox="1"/>
          <p:nvPr/>
        </p:nvSpPr>
        <p:spPr>
          <a:xfrm>
            <a:off x="6190488" y="2843784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flags correct (precision)</a:t>
            </a:r>
            <a:endParaRPr lang="en-US" sz="1000" dirty="0"/>
          </a:p>
        </p:txBody>
      </p:sp>
      <p:sp>
        <p:nvSpPr>
          <p:cNvPr id="34" name="Text 32"/>
          <p:cNvSpPr txBox="1"/>
          <p:nvPr/>
        </p:nvSpPr>
        <p:spPr>
          <a:xfrm>
            <a:off x="6190488" y="3163824"/>
            <a:ext cx="220370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0.93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6190488" y="3557016"/>
            <a:ext cx="220370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F1 score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6190488" y="3931920"/>
            <a:ext cx="220370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i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50 test messages written by the team; real accuracy measured in the pilot.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292608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Challenges, limitations and future scope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548640" y="9144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548640" y="914400"/>
            <a:ext cx="25603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7784" y="1097280"/>
            <a:ext cx="25420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225296"/>
            <a:ext cx="25603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766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8503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241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1188720" y="969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Challenges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749808" y="1371600"/>
            <a:ext cx="21579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Apps rebrand in weeks → link by money trail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 blocks SMS reading → share-in design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False reports → 3-person rule, masked numbers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Shame stops reporting → volunteers, Contact Shield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557784" y="1234440"/>
            <a:ext cx="2542032" cy="45720"/>
          </a:xfrm>
          <a:prstGeom prst="rect">
            <a:avLst/>
          </a:prstGeom>
          <a:solidFill>
            <a:srgbClr val="E5352B"/>
          </a:solidFill>
          <a:ln w="12700">
            <a:solidFill>
              <a:srgbClr val="E5352B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291840" y="9144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91840" y="914400"/>
            <a:ext cx="25603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00984" y="1097280"/>
            <a:ext cx="25420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291840" y="1225296"/>
            <a:ext cx="25603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4198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35935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37673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931920" y="969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Limitations</a:t>
            </a:r>
            <a:endParaRPr lang="en-US" sz="1050" dirty="0"/>
          </a:p>
        </p:txBody>
      </p:sp>
      <p:sp>
        <p:nvSpPr>
          <p:cNvPr id="21" name="Text 19"/>
          <p:cNvSpPr txBox="1"/>
          <p:nvPr/>
        </p:nvSpPr>
        <p:spPr>
          <a:xfrm>
            <a:off x="3493008" y="1371600"/>
            <a:ext cx="21579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Keyword scanner misses new wording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Test set not from the field yet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Evidence stored only in the browser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Legal mapping is indicative, not advice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3300984" y="1234440"/>
            <a:ext cx="2542032" cy="45720"/>
          </a:xfrm>
          <a:prstGeom prst="rect">
            <a:avLst/>
          </a:prstGeom>
          <a:solidFill>
            <a:srgbClr val="C77700"/>
          </a:solidFill>
          <a:ln w="12700">
            <a:solidFill>
              <a:srgbClr val="C7770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035040" y="914400"/>
            <a:ext cx="2560320" cy="3108960"/>
          </a:xfrm>
          <a:prstGeom prst="roundRect">
            <a:avLst>
              <a:gd name="adj" fmla="val 3571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035040" y="914400"/>
            <a:ext cx="2560320" cy="310896"/>
          </a:xfrm>
          <a:prstGeom prst="roundRect">
            <a:avLst>
              <a:gd name="adj" fmla="val 29412"/>
            </a:avLst>
          </a:prstGeom>
          <a:solidFill>
            <a:srgbClr val="ECECEE"/>
          </a:solidFill>
          <a:ln w="9525">
            <a:solidFill>
              <a:srgbClr val="E5E5E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044184" y="1097280"/>
            <a:ext cx="2542032" cy="128016"/>
          </a:xfrm>
          <a:prstGeom prst="rect">
            <a:avLst/>
          </a:prstGeom>
          <a:solidFill>
            <a:srgbClr val="ECECEE"/>
          </a:solidFill>
          <a:ln w="12700">
            <a:solidFill>
              <a:srgbClr val="ECECEE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035040" y="1225296"/>
            <a:ext cx="2560320" cy="0"/>
          </a:xfrm>
          <a:prstGeom prst="line">
            <a:avLst/>
          </a:prstGeom>
          <a:noFill/>
          <a:ln w="9525">
            <a:solidFill>
              <a:srgbClr val="E5E5E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63056" y="1014984"/>
            <a:ext cx="109728" cy="109728"/>
          </a:xfrm>
          <a:prstGeom prst="ellipse">
            <a:avLst/>
          </a:prstGeom>
          <a:solidFill>
            <a:srgbClr val="FF5F57"/>
          </a:solidFill>
          <a:ln w="12700">
            <a:solidFill>
              <a:srgbClr val="FF5F57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336792" y="1014984"/>
            <a:ext cx="109728" cy="109728"/>
          </a:xfrm>
          <a:prstGeom prst="ellipse">
            <a:avLst/>
          </a:prstGeom>
          <a:solidFill>
            <a:srgbClr val="FEBC2E"/>
          </a:solidFill>
          <a:ln w="12700">
            <a:solidFill>
              <a:srgbClr val="FEBC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510528" y="1014984"/>
            <a:ext cx="109728" cy="109728"/>
          </a:xfrm>
          <a:prstGeom prst="ellipse">
            <a:avLst/>
          </a:prstGeom>
          <a:solidFill>
            <a:srgbClr val="28C840"/>
          </a:solidFill>
          <a:ln w="12700">
            <a:solidFill>
              <a:srgbClr val="28C840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675120" y="9692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Future scope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6236208" y="1371600"/>
            <a:ext cx="2157984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Android app with call screening and OCR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Trained model in Tamil, Telugu, Bengali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WhatsApp / IVR line for basic phones</a:t>
            </a:r>
            <a:endParaRPr lang="en-US" sz="1100" dirty="0"/>
          </a:p>
          <a:p>
            <a:pPr marL="152400" indent="-152400"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Graph API for cyber cells and banks; 90-day district pilot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6044184" y="1234440"/>
            <a:ext cx="2542032" cy="45720"/>
          </a:xfrm>
          <a:prstGeom prst="rect">
            <a:avLst/>
          </a:prstGeom>
          <a:solidFill>
            <a:srgbClr val="1F9D55"/>
          </a:solidFill>
          <a:ln w="12700">
            <a:solidFill>
              <a:srgbClr val="1F9D55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548640" y="4206240"/>
            <a:ext cx="8046720" cy="594360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9525">
            <a:solidFill>
              <a:srgbClr val="E5E5EA"/>
            </a:solidFill>
            <a:prstDash val="solid"/>
          </a:ln>
          <a:effectLst>
            <a:outerShdw sx="100000" sy="100000" kx="0" ky="0" algn="bl" rotWithShape="0" blurRad="127000" dist="25400" dir="5400000">
              <a:srgbClr val="000000">
                <a:alpha val="8000"/>
              </a:srgbClr>
            </a:outerShdw>
          </a:effectLst>
        </p:spPr>
      </p:sp>
      <p:sp>
        <p:nvSpPr>
          <p:cNvPr id="34" name="Text 32"/>
          <p:cNvSpPr txBox="1"/>
          <p:nvPr/>
        </p:nvSpPr>
        <p:spPr>
          <a:xfrm>
            <a:off x="777240" y="4224528"/>
            <a:ext cx="7589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D1D1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Safer loans. Stronger people.  </a:t>
            </a:r>
            <a:pPr indent="0" marL="0">
              <a:buNone/>
            </a:pPr>
            <a:r>
              <a:rPr lang="en-US" sz="1100" dirty="0">
                <a:solidFill>
                  <a:srgbClr val="6E6E7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Help: 1930 · cybercrime.gov.in · Tele-MANAS 14416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LoanShield</dc:title>
  <dc:subject>PptxGenJS Presentation</dc:subject>
  <dc:creator>PptxGenJS</dc:creator>
  <cp:lastModifiedBy>PptxGenJS</cp:lastModifiedBy>
  <cp:revision>1</cp:revision>
  <dcterms:created xsi:type="dcterms:W3CDTF">2026-10-16T14:39:29Z</dcterms:created>
  <dcterms:modified xsi:type="dcterms:W3CDTF">2026-10-16T14:39:29Z</dcterms:modified>
</cp:coreProperties>
</file>